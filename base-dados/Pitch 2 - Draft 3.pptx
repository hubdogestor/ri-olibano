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AC4E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7680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O Problema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6809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000">
                <a:solidFill>
                  <a:srgbClr val="FFFFFF"/>
                </a:solidFill>
              </a:defRPr>
            </a:pPr>
            <a:r>
              <a:t>Falta de opções premium e verdadeiramente transformadoras de bem-estar em Porto Alegre. Spas tradicionais não oferecem uma jornada personalizada e sensorial. Clínicas médicas focam apenas no físico, deixando de lado o emocional e energético.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7680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AC4E15"/>
                </a:solidFill>
              </a:defRPr>
            </a:pPr>
            <a:r>
              <a:t>A Solução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6809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000">
                <a:solidFill>
                  <a:srgbClr val="AC4E15"/>
                </a:solidFill>
              </a:defRPr>
            </a:pPr>
            <a:r>
              <a:t>- Jornada sensorial imersiva com cápsula de flutuação, cromoterapia, aromaterapia, gemologia e cadeira de gravidade zero</a:t>
            </a:r>
          </a:p>
          <a:p>
            <a:pPr>
              <a:defRPr sz="2000">
                <a:solidFill>
                  <a:srgbClr val="AC4E15"/>
                </a:solidFill>
              </a:defRPr>
            </a:pPr>
            <a:r>
              <a:t>- Diagnóstico individual, protocolos personalizados e ambiente de excelência</a:t>
            </a:r>
          </a:p>
          <a:p>
            <a:pPr>
              <a:defRPr sz="2000">
                <a:solidFill>
                  <a:srgbClr val="AC4E15"/>
                </a:solidFill>
              </a:defRPr>
            </a:pPr>
            <a:r>
              <a:t>- Produtos exclusivos e concierge de atendimento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968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7680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Tamanho de Mercado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6809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000">
                <a:solidFill>
                  <a:srgbClr val="FFFFFF"/>
                </a:solidFill>
              </a:defRPr>
            </a:pPr>
            <a:r>
              <a:t>TAM: R$ 2 bilhões/ano (bem-estar premium no Brasil)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SAM: 500 mil pessoas (Classes A/B em Porto Alegre)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SOM: 6 mil clientes qualificados em 3 anos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7680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354037"/>
                </a:solidFill>
              </a:defRPr>
            </a:pPr>
            <a:r>
              <a:t>Modelo de Negócio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6809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000">
                <a:solidFill>
                  <a:srgbClr val="354037"/>
                </a:solidFill>
              </a:defRPr>
            </a:pPr>
            <a:r>
              <a:t>- Sessões avulsas + pacotes recorrentes</a:t>
            </a:r>
          </a:p>
          <a:p>
            <a:pPr>
              <a:defRPr sz="2000">
                <a:solidFill>
                  <a:srgbClr val="354037"/>
                </a:solidFill>
              </a:defRPr>
            </a:pPr>
            <a:r>
              <a:t>- Assinatura de bem-estar</a:t>
            </a:r>
          </a:p>
          <a:p>
            <a:pPr>
              <a:defRPr sz="2000">
                <a:solidFill>
                  <a:srgbClr val="354037"/>
                </a:solidFill>
              </a:defRPr>
            </a:pPr>
            <a:r>
              <a:t>- Loja virtual de produtos próprios e digitais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887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7680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Faturamento e Métricas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6809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000">
                <a:solidFill>
                  <a:srgbClr val="FFFFFF"/>
                </a:solidFill>
              </a:defRPr>
            </a:pPr>
            <a:r>
              <a:t>Ticket médio: R$699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Receita MVP: R$18.900 em 3 meses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Meta pós-investimento: R$30k/mês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7680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AC4E15"/>
                </a:solidFill>
              </a:defRPr>
            </a:pPr>
            <a:r>
              <a:t>Movimentos de Mercado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680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000">
                <a:solidFill>
                  <a:srgbClr val="AC4E15"/>
                </a:solidFill>
              </a:defRPr>
            </a:pPr>
            <a:r>
              <a:t>- Experimentaí adquirida pela UAUBox</a:t>
            </a:r>
          </a:p>
          <a:p>
            <a:pPr>
              <a:defRPr sz="2000">
                <a:solidFill>
                  <a:srgbClr val="AC4E15"/>
                </a:solidFill>
              </a:defRPr>
            </a:pPr>
            <a:r>
              <a:t>- XWELL investe US$ 4M em spas médicos</a:t>
            </a:r>
          </a:p>
          <a:p>
            <a:pPr>
              <a:defRPr sz="2000">
                <a:solidFill>
                  <a:srgbClr val="AC4E15"/>
                </a:solidFill>
              </a:defRPr>
            </a:pPr>
            <a:r>
              <a:t>- Princeton Medspa Partners inicia aquisição de clínicas wellness</a:t>
            </a:r>
          </a:p>
          <a:p>
            <a:pPr>
              <a:defRPr sz="2000">
                <a:solidFill>
                  <a:srgbClr val="AC4E15"/>
                </a:solidFill>
              </a:defRPr>
            </a:pPr>
            <a:r>
              <a:t>- Mindbody expande via M&amp;A no segmento global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540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7680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Possíveis Exits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680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000">
                <a:solidFill>
                  <a:srgbClr val="FFFFFF"/>
                </a:solidFill>
              </a:defRPr>
            </a:pPr>
            <a:r>
              <a:t>- Aquisição por grupos de clínicas, wellness ou cosméticos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- Interesse crescente de healthtechs e marketplaces de saúde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- Consolidação por fundos de bem-estar e luxo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7680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354037"/>
                </a:solidFill>
              </a:defRPr>
            </a:pPr>
            <a:r>
              <a:t>Concorrência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680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000">
                <a:solidFill>
                  <a:srgbClr val="354037"/>
                </a:solidFill>
              </a:defRPr>
            </a:pPr>
            <a:r>
              <a:t>- Spas convencionais: estética, sem inovação</a:t>
            </a:r>
          </a:p>
          <a:p>
            <a:pPr>
              <a:defRPr sz="2000">
                <a:solidFill>
                  <a:srgbClr val="354037"/>
                </a:solidFill>
              </a:defRPr>
            </a:pPr>
            <a:r>
              <a:t>- Clínicas médicas: foco físico, pouca experiência sensorial</a:t>
            </a:r>
          </a:p>
          <a:p>
            <a:pPr>
              <a:defRPr sz="2000">
                <a:solidFill>
                  <a:srgbClr val="354037"/>
                </a:solidFill>
              </a:defRPr>
            </a:pPr>
            <a:r>
              <a:t>- Olíbano se diferencia com experiência premium, imersiva e diagnóstica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887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7680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Time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680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000">
                <a:solidFill>
                  <a:srgbClr val="FFFFFF"/>
                </a:solidFill>
              </a:defRPr>
            </a:pPr>
            <a:r>
              <a:t>- Leonardo (CEO): médico com visão integrativa e fundador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- [Seu Nome] (CPO): visão de produto, branding e experiência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- Equipe multidisciplinar complementar (terapeutas, esteticistas, operações)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968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7680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Cap Table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680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000">
                <a:solidFill>
                  <a:srgbClr val="FFFFFF"/>
                </a:solidFill>
              </a:defRPr>
            </a:pPr>
            <a:r>
              <a:t>- Leonardo: 50%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- [Seu Nome]: 50%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- Espaço disponível para investimento: 30% equity reservado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7680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AC4E15"/>
                </a:solidFill>
              </a:defRPr>
            </a:pPr>
            <a:r>
              <a:t>Investimento &amp;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680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000">
                <a:solidFill>
                  <a:srgbClr val="AC4E15"/>
                </a:solidFill>
              </a:defRPr>
            </a:pPr>
            <a:r>
              <a:t>- Investimento desejado: [VALOR ESTIMADO A DEFINIR VIA BENCHMARKING]</a:t>
            </a:r>
          </a:p>
          <a:p>
            <a:pPr>
              <a:defRPr sz="2000">
                <a:solidFill>
                  <a:srgbClr val="AC4E15"/>
                </a:solidFill>
              </a:defRPr>
            </a:pPr>
            <a:r>
              <a:t>- Uso dos recursos: marketing, equipe, estoque e expansão</a:t>
            </a:r>
          </a:p>
          <a:p>
            <a:pPr>
              <a:defRPr sz="2000">
                <a:solidFill>
                  <a:srgbClr val="AC4E15"/>
                </a:solidFill>
              </a:defRPr>
            </a:pPr>
            <a:r>
              <a:t>- Metas pós-investimento:</a:t>
            </a:r>
          </a:p>
          <a:p>
            <a:pPr>
              <a:defRPr sz="2000">
                <a:solidFill>
                  <a:srgbClr val="AC4E15"/>
                </a:solidFill>
              </a:defRPr>
            </a:pPr>
            <a:r>
              <a:t>  • R$30k/mês recorrente</a:t>
            </a:r>
          </a:p>
          <a:p>
            <a:pPr>
              <a:defRPr sz="2000">
                <a:solidFill>
                  <a:srgbClr val="AC4E15"/>
                </a:solidFill>
              </a:defRPr>
            </a:pPr>
            <a:r>
              <a:t>  • Agendamento diário completo</a:t>
            </a:r>
          </a:p>
          <a:p>
            <a:pPr>
              <a:defRPr sz="2000">
                <a:solidFill>
                  <a:srgbClr val="AC4E15"/>
                </a:solidFill>
              </a:defRPr>
            </a:pPr>
            <a:r>
              <a:t>  • Escala de produtos online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AC4E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7680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Contato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680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000">
                <a:solidFill>
                  <a:srgbClr val="FFFFFF"/>
                </a:solidFill>
              </a:defRPr>
            </a:pPr>
            <a:r>
              <a:t>Site: www.olibanovip.com.br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Email: contato@olibanovip.com.br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Instagram: @olibanovip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WhatsApp: (51) 99362-2621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